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우리는 Claude Code보다 코딩을 잘하는 걸 만들지 않습니다. 여러 사람이 각자 에이전트를 돌릴 때, 에이전트의 질문이 정할 권한이 있는 사람에게 바로 가게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지난번 피드백은 범위가 너무 크다는 것이었습니다. 그래서 3역할 팀, 질문 owner 배정, 공통 계약 위의 병렬 개발 세 가지로 줄였습니다. 역할 쪼개기와 추가 에이전트는 미룹니다.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지금은 프론트 에이전트가 백엔드 질문을 해도 프론트 개발자 화면에 뜹니다. 공식 문서상 서브에이전트는 질문 도구를 못 쓰고, agent teams도 리드 한 사람에게 올립니다.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솔직히 말씀드리면 역할을 나눈 병렬 개발은 이미 Claude Code와 MetaGPT가 합니다. 없는 건 여러 사람의 에이전트 질문을 owner에게 보내는 것이고, 그게 우리 자리입니다.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팀 세션에서 나온 질문 173개를 라벨링했습니다. 기획 때는 FE와 BE 사이의 질문을 생각했는데, 실제로는 60%가 대표가 정할 질문이었습니다. 우선순위와 요청 의도 확인이 많습니다.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그래서 지금 서버의 기본 규칙, 묻는 쪽의 반대 역할로 보내는 방식은 실제 질문에서 13%만 맞혔습니다. PM을 고를 수 없는 설계였기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라우터 여섯 가지를 비교했습니다. LLM이 owner를 직접 고르면 실제 질문 94%, 백엔드 팀이 정답을 붙인 20문항 95%였습니다. 키워드 규칙은 처음 보는 도메인에서 53%로 떨어졌습니다.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정확도보다 어려운 건 대표 부하입니다. 가장 정확한 라우터도 73%를 대표에게 보냈습니다. 기획안의 확신도 낮으면 대표에게 단계는 오히려 정확도를 떨어뜨렸습니다.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그래서 다섯 단계로 바꿉니다. 묻기 전에 답을 찾고, 경로와 운영 반영은 규칙으로, 나머지는 LLM이, 확신이 낮아도 대표에게 몰지 않고, 넘기기 기록으로 배웁니다.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중계는 이미 서버에 들어가 있습니다. 상담 실행은 26번 시험에서 틀린 확정이 한 번도 없었고, 질문 중계를 끄는 스위치가 그대로 대조군이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기말에는 같은 과제를 네 조건으로 돌립니다. Claude Code 한 세션, agent teams, NOMOS 질문 중계 끔, 켬. 지표는 성공, 시간, 토큰, 결정 재작업 네 개로 고정합니다.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8주 계획입니다. 첫 2주에 팀원 세 명이 300문항을 블라인드로 다시 라벨링해 숫자를 확정하고, 라우터 v2를 서버에 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추가 아이디어는 대표의 시간을 아끼는 순서로 골랐습니다. 결정 장부 재사용과 질문 묶기가 먼저이고, Jev 같은 결정 모델은 기말에 비교만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정리하면, 질문의 다수는 대표에게 가야 하고, owner는 LLM이 9할 이상 맞힙니다. 남은 건 대표의 시간을 아끼는 것과 실제 팀 실험으로 증명하는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876300"/>
            <a:ext cx="762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00" b="1">
                <a:solidFill>
                  <a:srgbClr val="C4C2BA"/>
                </a:solidFill>
                <a:latin typeface="Pretendard"/>
                <a:ea typeface="Pretendard"/>
                <a:cs typeface="Pretendard"/>
              </a:rPr>
              <a:t>NOMOS  중간발표  2026.10.16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809750"/>
            <a:ext cx="104775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800"/>
              </a:lnSpc>
            </a:pPr>
            <a:r>
              <a:rPr sz="4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에이전트의 질문을</a:t>
            </a:r>
          </a:p>
          <a:p>
            <a:pPr algn="l">
              <a:lnSpc>
                <a:spcPct val="105800"/>
              </a:lnSpc>
            </a:pPr>
            <a:r>
              <a:rPr sz="4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정할 권한이 있는 사람에게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191000"/>
            <a:ext cx="8572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575" b="0">
                <a:solidFill>
                  <a:srgbClr val="C4C2BA"/>
                </a:solidFill>
                <a:latin typeface="Pretendard"/>
                <a:ea typeface="Pretendard"/>
                <a:cs typeface="Pretendard"/>
              </a:rPr>
              <a:t>여러 사람이 각자 Claude Code를 돌리는 팀에서, AskUserQuestion을 맞는 owner에게 보내고</a:t>
            </a:r>
          </a:p>
          <a:p>
            <a:pPr algn="l">
              <a:lnSpc>
                <a:spcPct val="138000"/>
              </a:lnSpc>
            </a:pPr>
            <a:r>
              <a:rPr sz="1575" b="0">
                <a:solidFill>
                  <a:srgbClr val="C4C2BA"/>
                </a:solidFill>
                <a:latin typeface="Pretendard"/>
                <a:ea typeface="Pretendard"/>
                <a:cs typeface="Pretendard"/>
              </a:rPr>
              <a:t>공통 계약 위에서 병렬로 개발하게 만드는 서버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619750"/>
            <a:ext cx="10668000" cy="9525"/>
          </a:xfrm>
          <a:prstGeom prst="rect">
            <a:avLst/>
          </a:prstGeom>
          <a:solidFill>
            <a:srgbClr val="474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81025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00" b="0">
                <a:solidFill>
                  <a:srgbClr val="C4C2BA"/>
                </a:solidFill>
                <a:latin typeface="Pretendard"/>
                <a:ea typeface="Pretendard"/>
                <a:cs typeface="Pretendard"/>
              </a:rPr>
              <a:t>중앙대학교 캡스톤디자인   최영현(대표)   오영훈(BE)   전병국(FE)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5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지난 피드백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0" y="3810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02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240"/>
              </a:lnSpc>
            </a:pPr>
            <a:r>
              <a:rPr sz="28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범위를 줄였습니다: 3역할, 질문 owner 배정, 공통 계약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55320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610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82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NOMOS 중간발표  2026.10.16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095500"/>
            <a:ext cx="57150" cy="914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2133600"/>
            <a:ext cx="4953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800"/>
              </a:lnSpc>
            </a:pPr>
            <a:r>
              <a:rPr sz="16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가장 기본적인 할당이 되는지부터 확인하세요.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314700"/>
            <a:ext cx="57150" cy="914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6300" y="3352800"/>
            <a:ext cx="4953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800"/>
              </a:lnSpc>
            </a:pPr>
            <a:r>
              <a:rPr sz="16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공통 프로토콜을 지키면서 병렬 개발이 되는지가 1차 목표입니다.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533900"/>
            <a:ext cx="57150" cy="914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300" y="4572000"/>
            <a:ext cx="4953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800"/>
              </a:lnSpc>
            </a:pPr>
            <a:r>
              <a:rPr sz="16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에이전트 역할을 더 쪼개는 건 고생 대비 임팩트가 작습니다.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810250"/>
            <a:ext cx="533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교수님 피드백 요약(2026-10, 녹음 정리)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7000" y="2000250"/>
            <a:ext cx="5105400" cy="4191000"/>
          </a:xfrm>
          <a:prstGeom prst="roundRect">
            <a:avLst>
              <a:gd name="adj" fmla="val 1363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800" y="224790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00" b="1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이번 학기에 하는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2628900"/>
            <a:ext cx="457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1000"/>
              </a:lnSpc>
            </a:pPr>
            <a:r>
              <a:rPr sz="1575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1  PM, FE, BE 3역할 팀</a:t>
            </a:r>
          </a:p>
          <a:p>
            <a:pPr algn="l">
              <a:lnSpc>
                <a:spcPct val="161000"/>
              </a:lnSpc>
            </a:pPr>
            <a:r>
              <a:rPr sz="1575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2  질문(AskUserQuestion)을 정할 권한이 있는 사람에게</a:t>
            </a:r>
          </a:p>
          <a:p>
            <a:pPr algn="l">
              <a:lnSpc>
                <a:spcPct val="161000"/>
              </a:lnSpc>
            </a:pPr>
            <a:r>
              <a:rPr sz="1575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3  최소 공통 계약을 먼저 정하고 FE, BE 병렬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81800" y="4476750"/>
            <a:ext cx="4495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1800" y="466725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0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미루는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5029200"/>
            <a:ext cx="4572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200"/>
              </a:lnSpc>
            </a:pPr>
            <a:r>
              <a:rPr sz="135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역할 5개 이상, 비판 에이전트, ERD 에이전트,</a:t>
            </a:r>
          </a:p>
          <a:p>
            <a:pPr algn="l">
              <a:lnSpc>
                <a:spcPct val="147200"/>
              </a:lnSpc>
            </a:pPr>
            <a:r>
              <a:rPr sz="135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스케줄러 에이전트, 회사 단위 도메인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5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0" y="3810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03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240"/>
              </a:lnSpc>
            </a:pPr>
            <a:r>
              <a:rPr sz="28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Claude Code의 질문은 한 사람에게만 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55320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610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82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NOMOS 중간발표  2026.10.16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05000"/>
            <a:ext cx="514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00" b="1">
                <a:solidFill>
                  <a:srgbClr val="EB6834"/>
                </a:solidFill>
                <a:latin typeface="Pretendard"/>
                <a:ea typeface="Pretendard"/>
                <a:cs typeface="Pretendard"/>
              </a:rPr>
              <a:t>지금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190750"/>
            <a:ext cx="4762500" cy="685800"/>
          </a:xfrm>
          <a:prstGeom prst="roundRect">
            <a:avLst>
              <a:gd name="adj" fmla="val 8333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2381250"/>
            <a:ext cx="438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0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FE 에이전트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143250"/>
            <a:ext cx="4762500" cy="685800"/>
          </a:xfrm>
          <a:prstGeom prst="roundRect">
            <a:avLst>
              <a:gd name="adj" fmla="val 8333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333750"/>
            <a:ext cx="438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0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FE 개발자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4095750"/>
            <a:ext cx="4762500" cy="685800"/>
          </a:xfrm>
          <a:prstGeom prst="roundRect">
            <a:avLst>
              <a:gd name="adj" fmla="val 8333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" y="4286250"/>
            <a:ext cx="438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0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메신저로 BE 개발자 찾기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5048250"/>
            <a:ext cx="4762500" cy="685800"/>
          </a:xfrm>
          <a:prstGeom prst="roundRect">
            <a:avLst>
              <a:gd name="adj" fmla="val 8333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" y="5238750"/>
            <a:ext cx="438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0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답을 다시 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500" y="287655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200"/>
              </a:lnSpc>
            </a:pPr>
            <a:r>
              <a:rPr sz="1500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7500" y="382905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200"/>
              </a:lnSpc>
            </a:pPr>
            <a:r>
              <a:rPr sz="1500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7500" y="478155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200"/>
              </a:lnSpc>
            </a:pPr>
            <a:r>
              <a:rPr sz="1500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867400"/>
            <a:ext cx="495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답할 권한도 정보도 없는 사람이 중간에 낀다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1905000"/>
            <a:ext cx="514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00" b="1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NOMOS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2190750"/>
            <a:ext cx="5105400" cy="685800"/>
          </a:xfrm>
          <a:prstGeom prst="roundRect">
            <a:avLst>
              <a:gd name="adj" fmla="val 8333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5600" y="2381250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0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FE 에이전트가 질문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7000" y="3143250"/>
            <a:ext cx="5105400" cy="685800"/>
          </a:xfrm>
          <a:prstGeom prst="roundRect">
            <a:avLst>
              <a:gd name="adj" fmla="val 8333"/>
            </a:avLst>
          </a:prstGeom>
          <a:solidFill>
            <a:srgbClr val="E3EDFA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5600" y="3333750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0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서버가 owner 판정: BE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7000" y="4095750"/>
            <a:ext cx="5105400" cy="685800"/>
          </a:xfrm>
          <a:prstGeom prst="roundRect">
            <a:avLst>
              <a:gd name="adj" fmla="val 8333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5600" y="4286250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0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BE 개발자(또는 BE 노트북의 상담)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7000" y="5048250"/>
            <a:ext cx="5105400" cy="685800"/>
          </a:xfrm>
          <a:prstGeom prst="roundRect">
            <a:avLst>
              <a:gd name="adj" fmla="val 8333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5600" y="5238750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0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같은 실행으로 답이 돌아감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9200" y="287655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200"/>
              </a:lnSpc>
            </a:pPr>
            <a:r>
              <a:rPr sz="1500" b="0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9200" y="382905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200"/>
              </a:lnSpc>
            </a:pPr>
            <a:r>
              <a:rPr sz="1500" b="0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9200" y="4781550"/>
            <a:ext cx="381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200"/>
              </a:lnSpc>
            </a:pPr>
            <a:r>
              <a:rPr sz="1500" b="0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5867400"/>
            <a:ext cx="514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서브에이전트는 질문 도구를 못 쓰고, agent teams도 리드 한 사람에게 올린다(공식 문서)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5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냉정하게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0" y="3810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04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240"/>
              </a:lnSpc>
            </a:pPr>
            <a:r>
              <a:rPr sz="28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병렬 개발은 이미 있습니다. 질문 배달은 없습니다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55320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610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82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NOMOS 중간발표  2026.10.16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000250"/>
            <a:ext cx="10972800" cy="9525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209800"/>
            <a:ext cx="400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역할별 에이전트 병렬 개발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62500" y="2209800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EF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2500" y="2257425"/>
            <a:ext cx="723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200"/>
              </a:lnSpc>
            </a:pPr>
            <a:r>
              <a:rPr sz="1125" b="1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9300" y="2190750"/>
            <a:ext cx="571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20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Claude Code agent teams 문서가 FE, BE, 테스트 팀원을 예로 든다. MetaGPT(2024)도 PM, 설계자, 엔지니어 순서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06705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3276600"/>
            <a:ext cx="400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최소 계약 먼저 합의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2500" y="3276600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EF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2500" y="3324225"/>
            <a:ext cx="723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200"/>
              </a:lnSpc>
            </a:pPr>
            <a:r>
              <a:rPr sz="1125" b="1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있음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9300" y="3257550"/>
            <a:ext cx="571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20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계약 우선 개발, 소비자 주도 계약 테스트는 사람 팀의 오래된 관행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413385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4343400"/>
            <a:ext cx="400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빠른 결정 모델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62500" y="4343400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EF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2500" y="4391025"/>
            <a:ext cx="723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200"/>
              </a:lnSpc>
            </a:pPr>
            <a:r>
              <a:rPr sz="1125" b="1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있음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9300" y="4324350"/>
            <a:ext cx="571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20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Jev(TypeSafe, 2026-09) System 1 모델. 정확도는 최신 LLM보다 조금 낮고 빠르고 싸다고 주장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520065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410200"/>
            <a:ext cx="400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여러 사람의 에이전트 질문을 owner에게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62500" y="5410200"/>
            <a:ext cx="723900" cy="32385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62500" y="5457825"/>
            <a:ext cx="723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200"/>
              </a:lnSpc>
            </a:pPr>
            <a:r>
              <a:rPr sz="11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9300" y="5391150"/>
            <a:ext cx="571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20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Claude Code는 한 사람, 한 세션 안에서만 팀을 꾸린다. 측정한 공개 데이터도 없다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626745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5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0" y="3810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05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240"/>
              </a:lnSpc>
            </a:pPr>
            <a:r>
              <a:rPr sz="28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실제 팀 질문 173개 중 60%는 대표(PM)가 정할 일이었습니다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55320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610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82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NOMOS 중간발표  2026.10.16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866900"/>
            <a:ext cx="10477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0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Jazzify 팀(FE, BE 분업) 세션의 AskUserQuestion. "3인 팀이었다면 누가 정할 결정인가"로 라벨링(Claude 임시 라벨, 사람 검수 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571750"/>
            <a:ext cx="6504363" cy="914400"/>
          </a:xfrm>
          <a:prstGeom prst="roundRect">
            <a:avLst>
              <a:gd name="adj" fmla="val 4166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2762250"/>
            <a:ext cx="6380538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600450"/>
            <a:ext cx="6532938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8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PM(대표) 소관</a:t>
            </a:r>
          </a:p>
          <a:p>
            <a:pPr algn="l">
              <a:lnSpc>
                <a:spcPct val="1288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103개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42538" y="2571750"/>
            <a:ext cx="3777020" cy="914400"/>
          </a:xfrm>
          <a:prstGeom prst="roundRect">
            <a:avLst>
              <a:gd name="adj" fmla="val 4166"/>
            </a:avLst>
          </a:prstGeom>
          <a:solidFill>
            <a:srgbClr val="C4C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7788" y="2762250"/>
            <a:ext cx="365319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25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2538" y="3600450"/>
            <a:ext cx="380559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8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자기 소관</a:t>
            </a:r>
          </a:p>
          <a:p>
            <a:pPr algn="l">
              <a:lnSpc>
                <a:spcPct val="1288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60개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48134" y="2571750"/>
            <a:ext cx="605690" cy="914400"/>
          </a:xfrm>
          <a:prstGeom prst="roundRect">
            <a:avLst>
              <a:gd name="adj" fmla="val 629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43384" y="2762250"/>
            <a:ext cx="48186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6900" y="3600450"/>
            <a:ext cx="2095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8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상대 기술 역할 소관</a:t>
            </a:r>
          </a:p>
          <a:p>
            <a:pPr algn="r">
              <a:lnSpc>
                <a:spcPct val="1288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10개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4476750"/>
            <a:ext cx="2571750" cy="9525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4610100"/>
            <a:ext cx="2571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270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31개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143500"/>
            <a:ext cx="2571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우선순위를 묻는 질문</a:t>
            </a:r>
          </a:p>
          <a:p>
            <a:pPr algn="l">
              <a:lnSpc>
                <a:spcPct val="1334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("몇 순위로 올릴까요?")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0900" y="4476750"/>
            <a:ext cx="2571750" cy="9525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90900" y="4610100"/>
            <a:ext cx="2571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270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25개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0900" y="5143500"/>
            <a:ext cx="2571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요청 의도를 되묻는 질문</a:t>
            </a:r>
          </a:p>
          <a:p>
            <a:pPr algn="l">
              <a:lnSpc>
                <a:spcPct val="1334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("말씀하신 상단바가 어디인가요?")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476750"/>
            <a:ext cx="2571750" cy="9525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610100"/>
            <a:ext cx="2571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270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104초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143500"/>
            <a:ext cx="2571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답까지 걸린 시간 중앙값</a:t>
            </a:r>
          </a:p>
          <a:p>
            <a:pPr algn="l">
              <a:lnSpc>
                <a:spcPct val="1334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p90 약 31분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53500" y="4476750"/>
            <a:ext cx="2571750" cy="9525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3500" y="4610100"/>
            <a:ext cx="2571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270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77.5%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500" y="5143500"/>
            <a:ext cx="2571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추천 선택지를</a:t>
            </a:r>
          </a:p>
          <a:p>
            <a:pPr algn="l">
              <a:lnSpc>
                <a:spcPct val="1334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그대로 고른 비율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5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그래서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0" y="3810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06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240"/>
              </a:lnSpc>
            </a:pPr>
            <a:r>
              <a:rPr sz="28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지금 서버의 기본 규칙은 13%만 맞힙니다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55320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610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82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NOMOS 중간발표  2026.10.16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05000"/>
            <a:ext cx="5334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600"/>
              </a:lnSpc>
            </a:pPr>
            <a:r>
              <a:rPr sz="1575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서버 기본 라우터는 질문 내용을 보지 않고 묻는 쪽의 반대 역할에 보낸다.</a:t>
            </a:r>
          </a:p>
          <a:p>
            <a:pPr algn="l">
              <a:lnSpc>
                <a:spcPct val="142600"/>
              </a:lnSpc>
            </a:pPr>
            <a:r>
              <a:rPr sz="1575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42600"/>
              </a:lnSpc>
            </a:pPr>
            <a:r>
              <a:rPr sz="1575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FE와 BE 사이의 질문만 있다고 가정한 설계라 PM을 고를 수 없다.</a:t>
            </a:r>
          </a:p>
          <a:p>
            <a:pPr algn="l">
              <a:lnSpc>
                <a:spcPct val="142600"/>
              </a:lnSpc>
            </a:pPr>
            <a:r>
              <a:rPr sz="1575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42600"/>
              </a:lnSpc>
            </a:pPr>
            <a:r>
              <a:rPr sz="1575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백엔드 팀이 만든 20문항(FE, BE 질문만)에서는 70%였지만, 실제 질문에서는 대부분이 PM 소관이라 무너진다.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77000" y="1905000"/>
            <a:ext cx="5105400" cy="4000500"/>
          </a:xfrm>
          <a:prstGeom prst="roundRect">
            <a:avLst>
              <a:gd name="adj" fmla="val 1428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1800" y="215265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반대 역할 규칙의 정확도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667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백엔드 20문항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81800" y="2971800"/>
            <a:ext cx="2533650" cy="209550"/>
          </a:xfrm>
          <a:prstGeom prst="roundRect">
            <a:avLst>
              <a:gd name="adj" fmla="val 18181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0700" y="2952750"/>
            <a:ext cx="857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3429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정원 마감 합성 24문항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800" y="3733800"/>
            <a:ext cx="1508125" cy="209550"/>
          </a:xfrm>
          <a:prstGeom prst="roundRect">
            <a:avLst>
              <a:gd name="adj" fmla="val 18181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175" y="3714750"/>
            <a:ext cx="857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4191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결제 환불 보류 32문항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81800" y="4495800"/>
            <a:ext cx="1357312" cy="209550"/>
          </a:xfrm>
          <a:prstGeom prst="roundRect">
            <a:avLst>
              <a:gd name="adj" fmla="val 18181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4362" y="4476750"/>
            <a:ext cx="857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38%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4953000"/>
            <a:ext cx="285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실제 팀 질문 173문항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81800" y="5257800"/>
            <a:ext cx="481205" cy="209550"/>
          </a:xfrm>
          <a:prstGeom prst="roundRect">
            <a:avLst>
              <a:gd name="adj" fmla="val 18181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8255" y="5238750"/>
            <a:ext cx="857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13%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5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0" y="3810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07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240"/>
              </a:lnSpc>
            </a:pPr>
            <a:r>
              <a:rPr sz="28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owner 배정 자체는 어렵지 않습니다. LLM이 직접 고르면 9할 이상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55320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610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82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NOMOS 중간발표  2026.10.16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8288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실제 팀 질문 173개, 첫 수신자가 정할 권한이 있는 사람인 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247900"/>
            <a:ext cx="29908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반대 역할 규칙(현재 서버 기본값)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52850" y="2209800"/>
            <a:ext cx="455878" cy="266700"/>
          </a:xfrm>
          <a:prstGeom prst="roundRect">
            <a:avLst>
              <a:gd name="adj" fmla="val 14285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3978" y="22479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13.3%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647950"/>
            <a:ext cx="29908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전부 PM에게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52850" y="2609850"/>
            <a:ext cx="2755092" cy="266700"/>
          </a:xfrm>
          <a:prstGeom prst="roundRect">
            <a:avLst>
              <a:gd name="adj" fmla="val 14285"/>
            </a:avLst>
          </a:prstGeom>
          <a:solidFill>
            <a:srgbClr val="C4C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3192" y="264795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80.3%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0"/>
            <a:ext cx="29908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키워드 규칙 + 팀 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52850" y="3009900"/>
            <a:ext cx="2675809" cy="266700"/>
          </a:xfrm>
          <a:prstGeom prst="roundRect">
            <a:avLst>
              <a:gd name="adj" fmla="val 14285"/>
            </a:avLst>
          </a:prstGeom>
          <a:solidFill>
            <a:srgbClr val="C4C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3909" y="30480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78.0%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448050"/>
            <a:ext cx="29908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LLM 유형 분류 + 팀 표(sonnet)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52850" y="3409950"/>
            <a:ext cx="3210971" cy="266700"/>
          </a:xfrm>
          <a:prstGeom prst="roundRect">
            <a:avLst>
              <a:gd name="adj" fmla="val 14285"/>
            </a:avLst>
          </a:prstGeom>
          <a:solidFill>
            <a:srgbClr val="C4C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071" y="344805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93.6%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848100"/>
            <a:ext cx="29908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LLM 직접 지정(haiku)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52850" y="3810000"/>
            <a:ext cx="3131687" cy="266700"/>
          </a:xfrm>
          <a:prstGeom prst="roundRect">
            <a:avLst>
              <a:gd name="adj" fmla="val 14285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9787" y="38481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91.3%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248150"/>
            <a:ext cx="29908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LLM 직접 지정(sonnet)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52850" y="4210050"/>
            <a:ext cx="3230791" cy="266700"/>
          </a:xfrm>
          <a:prstGeom prst="roundRect">
            <a:avLst>
              <a:gd name="adj" fmla="val 14285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78891" y="424815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94.2%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4648200"/>
            <a:ext cx="29908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LLM 직접 지정 v2(sonnet)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52850" y="4610100"/>
            <a:ext cx="3369537" cy="266700"/>
          </a:xfrm>
          <a:prstGeom prst="roundRect">
            <a:avLst>
              <a:gd name="adj" fmla="val 14285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17637" y="4648200"/>
            <a:ext cx="762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98.3%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510540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v2는 실제 질문의 오답을 보고 경계 규칙을 더한 것이라 실제 질문 수치는 낙관적이다. 처음 보는 보류 세트에서는 v1과 차이가 없었다.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1500" y="1905000"/>
            <a:ext cx="3390900" cy="4286250"/>
          </a:xfrm>
          <a:prstGeom prst="roundRect">
            <a:avLst>
              <a:gd name="adj" fmla="val 1685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20100" y="2133600"/>
            <a:ext cx="2952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다른 세트에서도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0100" y="2533650"/>
            <a:ext cx="2952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백엔드 20문항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0100" y="2781300"/>
            <a:ext cx="295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LLM 직접 95%   키워드 규칙 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0100" y="3409950"/>
            <a:ext cx="2952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정원 마감 24문항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0100" y="3657600"/>
            <a:ext cx="295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LLM 직접 100%   키워드 규칙 83%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0100" y="4286250"/>
            <a:ext cx="29527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결제 환불 보류 32문항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0100" y="4533900"/>
            <a:ext cx="295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LLM 직접 100%   키워드 규칙 53%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0100" y="5200650"/>
            <a:ext cx="2952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5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키워드 규칙은 처음 보는 도메인에서 무너진다. 정답 라벨은 사람 검수 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5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배운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0" y="3810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08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240"/>
              </a:lnSpc>
            </a:pPr>
            <a:r>
              <a:rPr sz="28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어려운 건 정확도가 아니라 대표에게 몰리는 부하입니다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55320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610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82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NOMOS 중간발표  2026.10.16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000250"/>
            <a:ext cx="3505200" cy="4000500"/>
          </a:xfrm>
          <a:prstGeom prst="roundRect">
            <a:avLst>
              <a:gd name="adj" fmla="val 1630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2247900"/>
            <a:ext cx="2971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0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대표 부담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628900"/>
            <a:ext cx="2971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3600" b="1">
                <a:solidFill>
                  <a:srgbClr val="EB6834"/>
                </a:solidFill>
                <a:latin typeface="Pretendard"/>
                <a:ea typeface="Pretendard"/>
                <a:cs typeface="Pretendard"/>
              </a:rPr>
              <a:t>73%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543300"/>
            <a:ext cx="2971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200"/>
              </a:lnSpc>
            </a:pPr>
            <a:r>
              <a:rPr sz="13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가장 정확한 라우터도 질문의 73%를 대표에게 보냈다. 정답 분포는 60%.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00250"/>
            <a:ext cx="3505200" cy="4000500"/>
          </a:xfrm>
          <a:prstGeom prst="roundRect">
            <a:avLst>
              <a:gd name="adj" fmla="val 1630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0100" y="2247900"/>
            <a:ext cx="2971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0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확신 낮으면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628900"/>
            <a:ext cx="2971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2850" b="1">
                <a:solidFill>
                  <a:srgbClr val="EB6834"/>
                </a:solidFill>
                <a:latin typeface="Pretendard"/>
                <a:ea typeface="Pretendard"/>
                <a:cs typeface="Pretendard"/>
              </a:rPr>
              <a:t>94% → 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543300"/>
            <a:ext cx="2971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200"/>
              </a:lnSpc>
            </a:pPr>
            <a:r>
              <a:rPr sz="13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기획안의 '확신도 낮으면 대표에게'(문턱 0.8)를 넣으면 첫 수신자 정확도가 오히려 내려가고, 대표 부담은 73%에서 90%로 늘었다.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2000250"/>
            <a:ext cx="3505200" cy="4000500"/>
          </a:xfrm>
          <a:prstGeom prst="roundRect">
            <a:avLst>
              <a:gd name="adj" fmla="val 1630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3900" y="2247900"/>
            <a:ext cx="2971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0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오답의 모양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2628900"/>
            <a:ext cx="29718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360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9/10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3543300"/>
            <a:ext cx="2971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200"/>
              </a:lnSpc>
            </a:pPr>
            <a:r>
              <a:rPr sz="13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LLM이 틀린 10개 중 9개는 확신 0.6 이하에서 대표에게 미룬 경우. 모르면 대표에게 보내는 습관이 부하의 원인이다.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5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0" y="3810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09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240"/>
              </a:lnSpc>
            </a:pPr>
            <a:r>
              <a:rPr sz="28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owner 배정 다섯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55320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610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82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NOMOS 중간발표  2026.10.16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2038350"/>
            <a:ext cx="2057400" cy="3619500"/>
          </a:xfrm>
          <a:prstGeom prst="roundRect">
            <a:avLst>
              <a:gd name="adj" fmla="val 2777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150" y="2247900"/>
            <a:ext cx="57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3300" b="1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9718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묻기 전에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429000"/>
            <a:ext cx="16764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600"/>
              </a:lnSpc>
            </a:pPr>
            <a:r>
              <a:rPr sz="120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명세, 결정 장부, 코드에 답이 있으면 묻지 않는다(상담 실행)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150" y="4629150"/>
            <a:ext cx="16383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150" y="4762500"/>
            <a:ext cx="1676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12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"멤버 목록 응답 형태는?"</a:t>
            </a:r>
          </a:p>
          <a:p>
            <a:pPr algn="l">
              <a:lnSpc>
                <a:spcPct val="138000"/>
              </a:lnSpc>
            </a:pPr>
            <a:r>
              <a:rPr sz="1012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→ 코드에 있음, 사람 안 부름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9400" y="2038350"/>
            <a:ext cx="2057400" cy="3619500"/>
          </a:xfrm>
          <a:prstGeom prst="roundRect">
            <a:avLst>
              <a:gd name="adj" fmla="val 2777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8950" y="2247900"/>
            <a:ext cx="57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3300" b="1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8950" y="29718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결정적 신호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8950" y="3429000"/>
            <a:ext cx="16764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600"/>
              </a:lnSpc>
            </a:pPr>
            <a:r>
              <a:rPr sz="120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경로 소유권은 규칙으로. 운영 반영은 무조건 대표 승인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28950" y="4629150"/>
            <a:ext cx="16383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28950" y="4762500"/>
            <a:ext cx="1676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12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"server/refund를 고쳐도 되나요?"</a:t>
            </a:r>
          </a:p>
          <a:p>
            <a:pPr algn="l">
              <a:lnSpc>
                <a:spcPct val="138000"/>
              </a:lnSpc>
            </a:pPr>
            <a:r>
              <a:rPr sz="1012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→ BE(경로 소유)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038350"/>
            <a:ext cx="2057400" cy="3619500"/>
          </a:xfrm>
          <a:prstGeom prst="roundRect">
            <a:avLst>
              <a:gd name="adj" fmla="val 2777"/>
            </a:avLst>
          </a:prstGeom>
          <a:solidFill>
            <a:srgbClr val="E3EDFA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8750" y="2247900"/>
            <a:ext cx="57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3300" b="1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8750" y="29718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LLM 라우터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8750" y="3429000"/>
            <a:ext cx="16764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600"/>
              </a:lnSpc>
            </a:pPr>
            <a:r>
              <a:rPr sz="120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owner와 확신도. 소비자 요구는 소비자, 응답 모양은 제공자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0" y="4629150"/>
            <a:ext cx="16383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8750" y="4762500"/>
            <a:ext cx="1676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12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"정원 초과 에러 코드는?"</a:t>
            </a:r>
          </a:p>
          <a:p>
            <a:pPr algn="l">
              <a:lnSpc>
                <a:spcPct val="138000"/>
              </a:lnSpc>
            </a:pPr>
            <a:r>
              <a:rPr sz="1012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→ BE, 확신 0.95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9000" y="2038350"/>
            <a:ext cx="2057400" cy="3619500"/>
          </a:xfrm>
          <a:prstGeom prst="roundRect">
            <a:avLst>
              <a:gd name="adj" fmla="val 2777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8550" y="2247900"/>
            <a:ext cx="57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3300" b="1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550" y="29718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확신이 낮으면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8550" y="3429000"/>
            <a:ext cx="16764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600"/>
              </a:lnSpc>
            </a:pPr>
            <a:r>
              <a:rPr sz="120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대표에게 몰지 않고 1순위에게. 버튼 하나로 넘기기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48550" y="4629150"/>
            <a:ext cx="16383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8550" y="4762500"/>
            <a:ext cx="1676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12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확신 0.4, 1순위 FE</a:t>
            </a:r>
          </a:p>
          <a:p>
            <a:pPr algn="l">
              <a:lnSpc>
                <a:spcPct val="138000"/>
              </a:lnSpc>
            </a:pPr>
            <a:r>
              <a:rPr sz="1012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→ FE에게, 넘기기 가능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48800" y="2038350"/>
            <a:ext cx="2057400" cy="3619500"/>
          </a:xfrm>
          <a:prstGeom prst="roundRect">
            <a:avLst>
              <a:gd name="adj" fmla="val 2777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58350" y="2247900"/>
            <a:ext cx="571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3300" b="1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8350" y="2971800"/>
            <a:ext cx="1714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기록하고 배운다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58350" y="3429000"/>
            <a:ext cx="16764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600"/>
              </a:lnSpc>
            </a:pPr>
            <a:r>
              <a:rPr sz="120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넘기기는 정답 라벨. 답은 결정 장부로 재사용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58350" y="4629150"/>
            <a:ext cx="16383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58350" y="4762500"/>
            <a:ext cx="1676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012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같은 질문이 다시 오면</a:t>
            </a:r>
          </a:p>
          <a:p>
            <a:pPr algn="l">
              <a:lnSpc>
                <a:spcPct val="138000"/>
              </a:lnSpc>
            </a:pPr>
            <a:r>
              <a:rPr sz="1012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→ 장부의 답으로 자동 응답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5867400"/>
            <a:ext cx="10953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1단계와 4단계는 서버가 이미 가진 데이터(경로 소유 규칙, 이벤트 로그)를 쓴다. 새로 만드는 건 2, 3단계다.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5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구현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0" y="3810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240"/>
              </a:lnSpc>
            </a:pPr>
            <a:r>
              <a:rPr sz="28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질문 중계는 이미 서버에 들어가 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55320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610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82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NOMOS 중간발표  2026.10.16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96215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171700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질문 가로채기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8500" y="2171700"/>
            <a:ext cx="83439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35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Executor가 Claude Code의 AskUserQuestion을 가로채 서버로. 3분 안에 답이 오면 같은 실행에서 이어 간다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83845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048000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기다리지 않기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8500" y="3048000"/>
            <a:ext cx="83439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35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답이 늦으면 태스크를 내려놓고, 답이 오면 다시 가져간다. 3일 지나면 대표에게 올라간다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371475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3924300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상담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8500" y="3924300"/>
            <a:ext cx="83439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35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답할 역할의 노트북이 코드를 읽기 전용으로 보고 초안을 낸다. 시험 26회: 틀린 확정 0, 지시 주입 따름 0, 비밀 유출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59105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4800600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라우터 교체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8500" y="4800600"/>
            <a:ext cx="83439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35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규칙, LLM, Jev를 바꿔 끼우는 인터페이스. 실패하거나 30초 넘으면 규칙으로 대체하고 기록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546735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5676900"/>
            <a:ext cx="2476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57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대조군 스위치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8500" y="5676900"/>
            <a:ext cx="83439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1350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프로젝트마다 질문 중계를 끌 수 있다. 끈 상태가 실험의 대조군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634365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5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기말까지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0" y="3810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240"/>
              </a:lnSpc>
            </a:pPr>
            <a:r>
              <a:rPr sz="28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같은 과제를 네 조건으로 돌립니다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55320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610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82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NOMOS 중간발표  2026.10.16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62150"/>
            <a:ext cx="2590800" cy="1905000"/>
          </a:xfrm>
          <a:prstGeom prst="roundRect">
            <a:avLst>
              <a:gd name="adj" fmla="val 3000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150" y="2152650"/>
            <a:ext cx="57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3000" b="1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762250"/>
            <a:ext cx="2190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42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Claude Code 한 세션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295650"/>
            <a:ext cx="2190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한 사람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0900" y="1962150"/>
            <a:ext cx="2590800" cy="1905000"/>
          </a:xfrm>
          <a:prstGeom prst="roundRect">
            <a:avLst>
              <a:gd name="adj" fmla="val 3000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450" y="2152650"/>
            <a:ext cx="57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3000" b="1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450" y="2762250"/>
            <a:ext cx="2190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42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Claude Code agent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295650"/>
            <a:ext cx="2190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FE, BE 팀원, 한 사람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962150"/>
            <a:ext cx="2590800" cy="1905000"/>
          </a:xfrm>
          <a:prstGeom prst="roundRect">
            <a:avLst>
              <a:gd name="adj" fmla="val 3000"/>
            </a:avLst>
          </a:prstGeom>
          <a:solidFill>
            <a:srgbClr val="FFFFFD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1750" y="2152650"/>
            <a:ext cx="57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3000" b="1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2762250"/>
            <a:ext cx="2190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42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NOMOS, 질문 중계 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0" y="3295650"/>
            <a:ext cx="2190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가정하고 진행(대조군)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500" y="1962150"/>
            <a:ext cx="2590800" cy="1905000"/>
          </a:xfrm>
          <a:prstGeom prst="roundRect">
            <a:avLst>
              <a:gd name="adj" fmla="val 3000"/>
            </a:avLst>
          </a:prstGeom>
          <a:solidFill>
            <a:srgbClr val="E3EDFA"/>
          </a:solidFill>
          <a:ln w="9525">
            <a:solidFill>
              <a:srgbClr val="DE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3050" y="2152650"/>
            <a:ext cx="57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3000" b="1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3050" y="2762250"/>
            <a:ext cx="2190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425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NOMOS, 질문 중계 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3050" y="3295650"/>
            <a:ext cx="2190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owner 라우터 v2 + 최소 계약 먼저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419100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0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지표 네 개로 고정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4572000"/>
            <a:ext cx="2590800" cy="9525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4705350"/>
            <a:ext cx="259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6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과제 성공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5105400"/>
            <a:ext cx="259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인수 테스트 통과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0900" y="4572000"/>
            <a:ext cx="2590800" cy="9525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90900" y="4705350"/>
            <a:ext cx="259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6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완료 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0900" y="5105400"/>
            <a:ext cx="259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시작부터 끝까지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572000"/>
            <a:ext cx="2590800" cy="9525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4705350"/>
            <a:ext cx="259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6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토큰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105400"/>
            <a:ext cx="259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비용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53500" y="4572000"/>
            <a:ext cx="2590800" cy="9525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53500" y="4705350"/>
            <a:ext cx="259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6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결정 재작업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3500" y="5105400"/>
            <a:ext cx="259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계약 위반, 반려 횟수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5695950"/>
            <a:ext cx="1095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12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질문 지표(첫 수신자 정확도, 대표 부담, 답 대기 시간)는 C와 D 사이에서 본다. 과제: 정원 마감, 결제 환불, 초대 수락.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5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0" y="3810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240"/>
              </a:lnSpc>
            </a:pPr>
            <a:r>
              <a:rPr sz="28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8주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55320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610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82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NOMOS 중간발표  2026.10.16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857500"/>
            <a:ext cx="10972800" cy="1905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27813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24790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6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1~2주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43250"/>
            <a:ext cx="20002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사람 검수 300문항(블라인드, 카파)</a:t>
            </a:r>
          </a:p>
          <a:p>
            <a:pPr algn="l">
              <a:lnSpc>
                <a:spcPct val="147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라우터 v2를 서버에 연결, 넘기기 버튼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9400" y="27813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9400" y="224790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6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3~4주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9400" y="3143250"/>
            <a:ext cx="20002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과제 3개 확정</a:t>
            </a:r>
          </a:p>
          <a:p>
            <a:pPr algn="l">
              <a:lnSpc>
                <a:spcPct val="147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조건 A~D 실행 파이프라인과 로그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7813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24790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6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5~6주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143250"/>
            <a:ext cx="20002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본 실험</a:t>
            </a:r>
          </a:p>
          <a:p>
            <a:pPr algn="l">
              <a:lnSpc>
                <a:spcPct val="147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결정 장부 재사용, 질문 묶기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9000" y="27813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9000" y="224790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6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7주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3143250"/>
            <a:ext cx="20002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분석</a:t>
            </a:r>
          </a:p>
          <a:p>
            <a:pPr algn="l">
              <a:lnSpc>
                <a:spcPct val="147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Jev 비교 한 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48800" y="27813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8800" y="2247900"/>
            <a:ext cx="2000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6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8주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8800" y="3143250"/>
            <a:ext cx="20002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기말 발표</a:t>
            </a:r>
          </a:p>
          <a:p>
            <a:pPr algn="l">
              <a:lnSpc>
                <a:spcPct val="147200"/>
              </a:lnSpc>
            </a:pPr>
            <a:r>
              <a:rPr sz="1275" b="0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실측 표와 시연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5334000"/>
            <a:ext cx="10972800" cy="762000"/>
          </a:xfrm>
          <a:prstGeom prst="roundRect">
            <a:avLst>
              <a:gd name="adj" fmla="val 7500"/>
            </a:avLst>
          </a:prstGeom>
          <a:solidFill>
            <a:srgbClr val="EF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200" y="5562600"/>
            <a:ext cx="10572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3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기말에 보여 줄 것: 실측 표 하나(A~D × 지표 4개)와 질문이 owner에게 가는 실제 시연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810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050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더 넣을 것과 미룰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0" y="38100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200"/>
              </a:lnSpc>
            </a:pPr>
            <a:r>
              <a:rPr sz="97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0953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240"/>
              </a:lnSpc>
            </a:pPr>
            <a:r>
              <a:rPr sz="2850" b="1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대표의 시간을 아끼는 쪽부터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553200"/>
            <a:ext cx="10972800" cy="9525"/>
          </a:xfrm>
          <a:prstGeom prst="rect">
            <a:avLst/>
          </a:prstGeom>
          <a:solidFill>
            <a:srgbClr val="DE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6103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825" b="0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NOMOS 중간발표  2026.10.16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905000"/>
            <a:ext cx="3238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1">
                <a:solidFill>
                  <a:srgbClr val="2A78D6"/>
                </a:solidFill>
                <a:latin typeface="Pretendard"/>
                <a:ea typeface="Pretendard"/>
                <a:cs typeface="Pretendard"/>
              </a:rPr>
              <a:t>이번 학기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247900"/>
            <a:ext cx="3238500" cy="9525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400300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3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결정 장부 재사용: 같은 결정은 다시 묻지 않는다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105150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3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질문 묶기: 같은 사람에게 가는 질문을 한 번에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810000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3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추천 수락 후 진행, 사후 확인(추천 수락률 78%)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14850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3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넘기기 버튼과 재배정 로그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219700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3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답 대기 기준 시간과 자동 상향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0" y="1905000"/>
            <a:ext cx="3238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1">
                <a:solidFill>
                  <a:srgbClr val="47474D"/>
                </a:solidFill>
                <a:latin typeface="Pretendard"/>
                <a:ea typeface="Pretendard"/>
                <a:cs typeface="Pretendard"/>
              </a:rPr>
              <a:t>기말에 비교만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2500" y="2247900"/>
            <a:ext cx="3238500" cy="9525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2500" y="2400300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3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Jev 같은 System 1 모델: 기말 비교 한 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0" y="3105150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3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질문 품질 검사(맥락, 선택지 누락)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50" y="1905000"/>
            <a:ext cx="3238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75" b="1">
                <a:solidFill>
                  <a:srgbClr val="7A7A80"/>
                </a:solidFill>
                <a:latin typeface="Pretendard"/>
                <a:ea typeface="Pretendard"/>
                <a:cs typeface="Pretendard"/>
              </a:rPr>
              <a:t>보류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86750" y="2247900"/>
            <a:ext cx="3238500" cy="9525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6750" y="2400300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3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역할 5개 이상으로 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0" y="3105150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400"/>
              </a:lnSpc>
            </a:pPr>
            <a:r>
              <a:rPr sz="1350" b="0">
                <a:solidFill>
                  <a:srgbClr val="16161A"/>
                </a:solidFill>
                <a:latin typeface="Pretendard"/>
                <a:ea typeface="Pretendard"/>
                <a:cs typeface="Pretendard"/>
              </a:rPr>
              <a:t>비판, ERD, 스케줄러 전용 에이전트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143000"/>
            <a:ext cx="1047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1200" b="1">
                <a:solidFill>
                  <a:srgbClr val="C4C2BA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2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질문의 다수는 대표에게 가야 하고,</a:t>
            </a:r>
          </a:p>
          <a:p>
            <a:pPr algn="l">
              <a:lnSpc>
                <a:spcPct val="1242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owner는 LLM이 9할 이상 맞힌다.</a:t>
            </a:r>
          </a:p>
          <a:p>
            <a:pPr algn="l">
              <a:lnSpc>
                <a:spcPct val="1242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남은 일은 대표의 시간을 아끼는 것과</a:t>
            </a:r>
          </a:p>
          <a:p>
            <a:pPr algn="l">
              <a:lnSpc>
                <a:spcPct val="1242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 팀 실험으로 증명하는 것이다.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5334000"/>
            <a:ext cx="10668000" cy="9525"/>
          </a:xfrm>
          <a:prstGeom prst="rect">
            <a:avLst/>
          </a:prstGeom>
          <a:solidFill>
            <a:srgbClr val="474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562600"/>
            <a:ext cx="10477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200"/>
              </a:lnSpc>
            </a:pPr>
            <a:r>
              <a:rPr sz="1200" b="0">
                <a:solidFill>
                  <a:srgbClr val="C4C2BA"/>
                </a:solidFill>
                <a:latin typeface="Pretendard"/>
                <a:ea typeface="Pretendard"/>
                <a:cs typeface="Pretendard"/>
              </a:rPr>
              <a:t>자료와 코드: NOMOS 연구 허브 reports/askuser_owner, 조사 보고서 docs/midterm/askuser-owner-report.html</a:t>
            </a:r>
          </a:p>
          <a:p>
            <a:pPr algn="l">
              <a:lnSpc>
                <a:spcPct val="147200"/>
              </a:lnSpc>
            </a:pPr>
            <a:r>
              <a:rPr sz="1200" b="0">
                <a:solidFill>
                  <a:srgbClr val="C4C2BA"/>
                </a:solidFill>
                <a:latin typeface="Pretendard"/>
                <a:ea typeface="Pretendard"/>
                <a:cs typeface="Pretendard"/>
              </a:rPr>
              <a:t>질문 받겠습니다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